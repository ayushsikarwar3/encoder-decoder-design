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F4E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99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F4E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99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F4E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99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F4E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99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999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99054" y="2426589"/>
            <a:ext cx="2574290" cy="453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F4E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737864" y="9497517"/>
            <a:ext cx="334010" cy="126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99999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dirty="0" spc="-30"/>
              <a:t> </a:t>
            </a:r>
            <a:r>
              <a:rPr dirty="0" spc="-10"/>
              <a:t>REPORT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8991" y="3057525"/>
            <a:ext cx="4618990" cy="6534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600" b="1">
                <a:latin typeface="Calibri"/>
                <a:cs typeface="Calibri"/>
              </a:rPr>
              <a:t>4-</a:t>
            </a:r>
            <a:r>
              <a:rPr dirty="0" sz="1600" spc="-10" b="1">
                <a:latin typeface="Calibri"/>
                <a:cs typeface="Calibri"/>
              </a:rPr>
              <a:t>to-</a:t>
            </a:r>
            <a:r>
              <a:rPr dirty="0" sz="1600" b="1">
                <a:latin typeface="Calibri"/>
                <a:cs typeface="Calibri"/>
              </a:rPr>
              <a:t>2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Encoder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&amp;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2-</a:t>
            </a:r>
            <a:r>
              <a:rPr dirty="0" sz="1600" spc="-10" b="1">
                <a:latin typeface="Calibri"/>
                <a:cs typeface="Calibri"/>
              </a:rPr>
              <a:t>to-</a:t>
            </a:r>
            <a:r>
              <a:rPr dirty="0" sz="1600" b="1">
                <a:latin typeface="Calibri"/>
                <a:cs typeface="Calibri"/>
              </a:rPr>
              <a:t>4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Decoder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Design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in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Verilog</a:t>
            </a:r>
            <a:r>
              <a:rPr dirty="0" sz="1600" spc="-25" b="1">
                <a:latin typeface="Calibri"/>
                <a:cs typeface="Calibri"/>
              </a:rPr>
              <a:t> HDL</a:t>
            </a:r>
            <a:endParaRPr sz="1600">
              <a:latin typeface="Calibri"/>
              <a:cs typeface="Calibri"/>
            </a:endParaRPr>
          </a:p>
          <a:p>
            <a:pPr algn="ctr" marR="635">
              <a:lnSpc>
                <a:spcPct val="100000"/>
              </a:lnSpc>
              <a:spcBef>
                <a:spcPts val="1575"/>
              </a:spcBef>
            </a:pPr>
            <a:r>
              <a:rPr dirty="0" sz="1200" i="1">
                <a:solidFill>
                  <a:srgbClr val="545454"/>
                </a:solidFill>
                <a:latin typeface="Calibri"/>
                <a:cs typeface="Calibri"/>
              </a:rPr>
              <a:t>Combinational</a:t>
            </a:r>
            <a:r>
              <a:rPr dirty="0" sz="1200" spc="-4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45454"/>
                </a:solidFill>
                <a:latin typeface="Calibri"/>
                <a:cs typeface="Calibri"/>
              </a:rPr>
              <a:t>Logic</a:t>
            </a:r>
            <a:r>
              <a:rPr dirty="0" sz="1200" spc="-25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45454"/>
                </a:solidFill>
                <a:latin typeface="Calibri"/>
                <a:cs typeface="Calibri"/>
              </a:rPr>
              <a:t>Design,</a:t>
            </a:r>
            <a:r>
              <a:rPr dirty="0" sz="1200" spc="-4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45454"/>
                </a:solidFill>
                <a:latin typeface="Calibri"/>
                <a:cs typeface="Calibri"/>
              </a:rPr>
              <a:t>Functional</a:t>
            </a:r>
            <a:r>
              <a:rPr dirty="0" sz="1200" spc="-4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45454"/>
                </a:solidFill>
                <a:latin typeface="Calibri"/>
                <a:cs typeface="Calibri"/>
              </a:rPr>
              <a:t>Simulation</a:t>
            </a:r>
            <a:r>
              <a:rPr dirty="0" sz="1200" spc="-3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545454"/>
                </a:solidFill>
                <a:latin typeface="Calibri"/>
                <a:cs typeface="Calibri"/>
              </a:rPr>
              <a:t>&amp;</a:t>
            </a:r>
            <a:r>
              <a:rPr dirty="0" sz="1200" spc="-30" i="1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545454"/>
                </a:solidFill>
                <a:latin typeface="Calibri"/>
                <a:cs typeface="Calibri"/>
              </a:rPr>
              <a:t>Verification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9701" y="4198467"/>
            <a:ext cx="3418840" cy="114808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100">
                <a:latin typeface="Calibri"/>
                <a:cs typeface="Calibri"/>
              </a:rPr>
              <a:t>Author: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Ayush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Sikarwar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dirty="0" sz="1100">
                <a:latin typeface="Calibri"/>
                <a:cs typeface="Calibri"/>
              </a:rPr>
              <a:t>B.Tech,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Electronics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Communication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Engineering</a:t>
            </a:r>
            <a:endParaRPr sz="1100">
              <a:latin typeface="Calibri"/>
              <a:cs typeface="Calibri"/>
            </a:endParaRPr>
          </a:p>
          <a:p>
            <a:pPr marL="12700" marR="5080" indent="320040">
              <a:lnSpc>
                <a:spcPct val="144000"/>
              </a:lnSpc>
              <a:spcBef>
                <a:spcPts val="5"/>
              </a:spcBef>
            </a:pPr>
            <a:r>
              <a:rPr dirty="0" sz="1000">
                <a:solidFill>
                  <a:srgbClr val="1154CC"/>
                </a:solidFill>
                <a:latin typeface="Calibri"/>
                <a:cs typeface="Calibri"/>
              </a:rPr>
              <a:t>LinkedIn:</a:t>
            </a:r>
            <a:r>
              <a:rPr dirty="0" sz="1000" spc="215">
                <a:solidFill>
                  <a:srgbClr val="1154CC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154CC"/>
                </a:solidFill>
                <a:latin typeface="Calibri"/>
                <a:cs typeface="Calibri"/>
              </a:rPr>
              <a:t>linkedin.com/in/ayush-sikarwar-a89878413 </a:t>
            </a:r>
            <a:r>
              <a:rPr dirty="0" sz="1000">
                <a:solidFill>
                  <a:srgbClr val="1154CC"/>
                </a:solidFill>
                <a:latin typeface="Calibri"/>
                <a:cs typeface="Calibri"/>
              </a:rPr>
              <a:t>Repository:</a:t>
            </a:r>
            <a:r>
              <a:rPr dirty="0" sz="1000" spc="210">
                <a:solidFill>
                  <a:srgbClr val="1154CC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154CC"/>
                </a:solidFill>
                <a:latin typeface="Calibri"/>
                <a:cs typeface="Calibri"/>
              </a:rPr>
              <a:t>github.com/ayushsikarwar3/Encoder-Decoder-Design</a:t>
            </a:r>
            <a:endParaRPr sz="1000">
              <a:latin typeface="Calibri"/>
              <a:cs typeface="Calibri"/>
            </a:endParaRPr>
          </a:p>
          <a:p>
            <a:pPr marL="1179830">
              <a:lnSpc>
                <a:spcPct val="100000"/>
              </a:lnSpc>
              <a:spcBef>
                <a:spcPts val="530"/>
              </a:spcBef>
            </a:pPr>
            <a:r>
              <a:rPr dirty="0" sz="1000">
                <a:latin typeface="Calibri"/>
                <a:cs typeface="Calibri"/>
              </a:rPr>
              <a:t>License: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MIT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License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1810" y="6210046"/>
            <a:ext cx="167195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solidFill>
                  <a:srgbClr val="777777"/>
                </a:solidFill>
                <a:latin typeface="Calibri"/>
                <a:cs typeface="Calibri"/>
              </a:rPr>
              <a:t>Report</a:t>
            </a:r>
            <a:r>
              <a:rPr dirty="0" sz="1000" spc="-4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777777"/>
                </a:solidFill>
                <a:latin typeface="Calibri"/>
                <a:cs typeface="Calibri"/>
              </a:rPr>
              <a:t>generated:</a:t>
            </a:r>
            <a:r>
              <a:rPr dirty="0" sz="1000" spc="-2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777777"/>
                </a:solidFill>
                <a:latin typeface="Calibri"/>
                <a:cs typeface="Calibri"/>
              </a:rPr>
              <a:t>July</a:t>
            </a:r>
            <a:r>
              <a:rPr dirty="0" sz="1000" spc="-1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777777"/>
                </a:solidFill>
                <a:latin typeface="Calibri"/>
                <a:cs typeface="Calibri"/>
              </a:rPr>
              <a:t>11,</a:t>
            </a:r>
            <a:r>
              <a:rPr dirty="0" sz="1000" spc="-25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777777"/>
                </a:solidFill>
                <a:latin typeface="Calibri"/>
                <a:cs typeface="Calibri"/>
              </a:rPr>
              <a:t>2026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8005" y="432561"/>
            <a:ext cx="17411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Encoder-Decoder-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Design</a:t>
            </a:r>
            <a:r>
              <a:rPr dirty="0" sz="800" spc="-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|</a:t>
            </a:r>
            <a:r>
              <a:rPr dirty="0" sz="800" spc="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Project</a:t>
            </a:r>
            <a:r>
              <a:rPr dirty="0" sz="800" spc="-1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Report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6416" y="1438910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4"/>
                </a:lnTo>
                <a:lnTo>
                  <a:pt x="5982335" y="9144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6416" y="3564001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4"/>
                </a:lnTo>
                <a:lnTo>
                  <a:pt x="5982335" y="9144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5451347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4"/>
                </a:lnTo>
                <a:lnTo>
                  <a:pt x="5982335" y="9144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96416" y="8100949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3"/>
                </a:lnTo>
                <a:lnTo>
                  <a:pt x="5982335" y="9143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2004" y="1142745"/>
            <a:ext cx="5974080" cy="76060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10"/>
              </a:spcBef>
              <a:buClr>
                <a:srgbClr val="1F4E5F"/>
              </a:buClr>
              <a:buFont typeface="Times New Roman"/>
              <a:buAutoNum type="arabicPeriod"/>
              <a:tabLst>
                <a:tab pos="203200" algn="l"/>
              </a:tabLst>
            </a:pP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Introduction</a:t>
            </a:r>
            <a:endParaRPr sz="1500">
              <a:latin typeface="Times New Roman"/>
              <a:cs typeface="Times New Roman"/>
            </a:endParaRPr>
          </a:p>
          <a:p>
            <a:pPr marL="12700" marR="255270">
              <a:lnSpc>
                <a:spcPct val="101400"/>
              </a:lnSpc>
              <a:spcBef>
                <a:spcPts val="1440"/>
              </a:spcBef>
            </a:pP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report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simulation,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functional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verification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fundamental </a:t>
            </a:r>
            <a:r>
              <a:rPr dirty="0" sz="1100">
                <a:latin typeface="Calibri"/>
                <a:cs typeface="Calibri"/>
              </a:rPr>
              <a:t>combinational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logic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circuits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implemented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Verilog</a:t>
            </a:r>
            <a:r>
              <a:rPr dirty="0" sz="1100" spc="-10">
                <a:latin typeface="Calibri"/>
                <a:cs typeface="Calibri"/>
              </a:rPr>
              <a:t> HDL: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4-</a:t>
            </a:r>
            <a:r>
              <a:rPr dirty="0" sz="1100" spc="-10">
                <a:latin typeface="Calibri"/>
                <a:cs typeface="Calibri"/>
              </a:rPr>
              <a:t>to-</a:t>
            </a:r>
            <a:r>
              <a:rPr dirty="0" sz="1100">
                <a:latin typeface="Calibri"/>
                <a:cs typeface="Calibri"/>
              </a:rPr>
              <a:t>2 Encoder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2-</a:t>
            </a:r>
            <a:r>
              <a:rPr dirty="0" sz="1100">
                <a:latin typeface="Calibri"/>
                <a:cs typeface="Calibri"/>
              </a:rPr>
              <a:t>to-4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Decoder.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 </a:t>
            </a:r>
            <a:r>
              <a:rPr dirty="0" sz="1100">
                <a:latin typeface="Calibri"/>
                <a:cs typeface="Calibri"/>
              </a:rPr>
              <a:t>project,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authored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 Ayush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Sikarwar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(B.Tech,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Electronics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Communication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Engineering)</a:t>
            </a:r>
            <a:r>
              <a:rPr dirty="0" sz="1100" spc="-25">
                <a:latin typeface="Calibri"/>
                <a:cs typeface="Calibri"/>
              </a:rPr>
              <a:t> and </a:t>
            </a:r>
            <a:r>
              <a:rPr dirty="0" sz="1100">
                <a:latin typeface="Calibri"/>
                <a:cs typeface="Calibri"/>
              </a:rPr>
              <a:t>published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GitHub,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serves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practical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foundation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topics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Digital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Electronics,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FPGA </a:t>
            </a:r>
            <a:r>
              <a:rPr dirty="0" sz="1100">
                <a:latin typeface="Calibri"/>
                <a:cs typeface="Calibri"/>
              </a:rPr>
              <a:t>development,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VLSI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design.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1800"/>
              </a:lnSpc>
              <a:spcBef>
                <a:spcPts val="819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repository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publicly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hosted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 </a:t>
            </a:r>
            <a:r>
              <a:rPr dirty="0" sz="1100" spc="-10">
                <a:latin typeface="Calibri"/>
                <a:cs typeface="Calibri"/>
              </a:rPr>
              <a:t>github.com/ayushsikarwar3/Encoder-Decoder-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released </a:t>
            </a:r>
            <a:r>
              <a:rPr dirty="0" sz="1100">
                <a:latin typeface="Calibri"/>
                <a:cs typeface="Calibri"/>
              </a:rPr>
              <a:t>under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License.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contains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Verilog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modules,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testbench,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project</a:t>
            </a:r>
            <a:r>
              <a:rPr dirty="0" sz="1100" spc="50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README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theory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truth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simulation-output </a:t>
            </a:r>
            <a:r>
              <a:rPr dirty="0" sz="1100" spc="-10">
                <a:latin typeface="Calibri"/>
                <a:cs typeface="Calibri"/>
              </a:rPr>
              <a:t>screenshot.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100">
              <a:latin typeface="Calibri"/>
              <a:cs typeface="Calibri"/>
            </a:endParaRPr>
          </a:p>
          <a:p>
            <a:pPr marL="203200" indent="-190500">
              <a:lnSpc>
                <a:spcPct val="100000"/>
              </a:lnSpc>
              <a:buClr>
                <a:srgbClr val="1F4E5F"/>
              </a:buClr>
              <a:buFont typeface="Times New Roman"/>
              <a:buAutoNum type="arabicPeriod" startAt="2"/>
              <a:tabLst>
                <a:tab pos="203200" algn="l"/>
              </a:tabLst>
            </a:pP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Project </a:t>
            </a: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Objective</a:t>
            </a:r>
            <a:endParaRPr sz="15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55"/>
              </a:spcBef>
              <a:buSzPct val="90909"/>
              <a:buFont typeface="Times New Roman"/>
              <a:buChar char="●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</a:t>
            </a:r>
            <a:r>
              <a:rPr dirty="0" sz="1100" spc="-20">
                <a:latin typeface="Calibri"/>
                <a:cs typeface="Calibri"/>
              </a:rPr>
              <a:t>4-</a:t>
            </a:r>
            <a:r>
              <a:rPr dirty="0" sz="1100" spc="-10">
                <a:latin typeface="Calibri"/>
                <a:cs typeface="Calibri"/>
              </a:rPr>
              <a:t>to-</a:t>
            </a:r>
            <a:r>
              <a:rPr dirty="0" sz="1100">
                <a:latin typeface="Calibri"/>
                <a:cs typeface="Calibri"/>
              </a:rPr>
              <a:t>2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Encoder</a:t>
            </a:r>
            <a:r>
              <a:rPr dirty="0" sz="1100">
                <a:latin typeface="Calibri"/>
                <a:cs typeface="Calibri"/>
              </a:rPr>
              <a:t> using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Verilog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HDL.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434"/>
              </a:spcBef>
              <a:buSzPct val="90909"/>
              <a:buFont typeface="Times New Roman"/>
              <a:buChar char="●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2-</a:t>
            </a:r>
            <a:r>
              <a:rPr dirty="0" sz="1100" spc="-10">
                <a:latin typeface="Calibri"/>
                <a:cs typeface="Calibri"/>
              </a:rPr>
              <a:t>to-</a:t>
            </a:r>
            <a:r>
              <a:rPr dirty="0" sz="1100">
                <a:latin typeface="Calibri"/>
                <a:cs typeface="Calibri"/>
              </a:rPr>
              <a:t>4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Decoder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 Verilog </a:t>
            </a:r>
            <a:r>
              <a:rPr dirty="0" sz="1100" spc="-20">
                <a:latin typeface="Calibri"/>
                <a:cs typeface="Calibri"/>
              </a:rPr>
              <a:t>HDL.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405"/>
              </a:spcBef>
              <a:buSzPct val="90909"/>
              <a:buFont typeface="Times New Roman"/>
              <a:buChar char="●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Simulate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circuits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HDL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simulator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Xilinx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Vivado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0">
                <a:latin typeface="Calibri"/>
                <a:cs typeface="Calibri"/>
              </a:rPr>
              <a:t> ModelSim.</a:t>
            </a:r>
            <a:endParaRPr sz="11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434"/>
              </a:spcBef>
              <a:buSzPct val="90909"/>
              <a:buFont typeface="Times New Roman"/>
              <a:buChar char="●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Verify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circuit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functionality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dedicated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testbench.</a:t>
            </a:r>
            <a:endParaRPr sz="1100">
              <a:latin typeface="Calibri"/>
              <a:cs typeface="Calibri"/>
            </a:endParaRPr>
          </a:p>
          <a:p>
            <a:pPr marL="469900" marR="243840" indent="-229235">
              <a:lnSpc>
                <a:spcPct val="102000"/>
              </a:lnSpc>
              <a:spcBef>
                <a:spcPts val="405"/>
              </a:spcBef>
              <a:buSzPct val="90909"/>
              <a:buFont typeface="Times New Roman"/>
              <a:buChar char="●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Build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practical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understanding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implementing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logic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hardware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description language.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100">
              <a:latin typeface="Calibri"/>
              <a:cs typeface="Calibri"/>
            </a:endParaRPr>
          </a:p>
          <a:p>
            <a:pPr marL="203200" indent="-190500">
              <a:lnSpc>
                <a:spcPct val="100000"/>
              </a:lnSpc>
              <a:buClr>
                <a:srgbClr val="1F4E5F"/>
              </a:buClr>
              <a:buFont typeface="Times New Roman"/>
              <a:buAutoNum type="arabicPeriod"/>
              <a:tabLst>
                <a:tab pos="203200" algn="l"/>
              </a:tabLst>
            </a:pP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Theoretical</a:t>
            </a:r>
            <a:r>
              <a:rPr dirty="0" sz="1500" spc="-3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Background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Clr>
                <a:srgbClr val="1F4E5F"/>
              </a:buClr>
              <a:buFont typeface="Times New Roman"/>
              <a:buAutoNum type="arabicPeriod"/>
            </a:pPr>
            <a:endParaRPr sz="1500">
              <a:latin typeface="Times New Roman"/>
              <a:cs typeface="Times New Roman"/>
            </a:endParaRPr>
          </a:p>
          <a:p>
            <a:pPr lvl="1" marL="243840" indent="-231140">
              <a:lnSpc>
                <a:spcPct val="100000"/>
              </a:lnSpc>
              <a:buClr>
                <a:srgbClr val="1F4E5F"/>
              </a:buClr>
              <a:buFont typeface="Times New Roman"/>
              <a:buAutoNum type="arabicPeriod"/>
              <a:tabLst>
                <a:tab pos="243840" algn="l"/>
              </a:tabLst>
            </a:pP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Encoder</a:t>
            </a:r>
            <a:endParaRPr sz="1200">
              <a:latin typeface="Times New Roman"/>
              <a:cs typeface="Times New Roman"/>
            </a:endParaRPr>
          </a:p>
          <a:p>
            <a:pPr marL="12700" marR="147320">
              <a:lnSpc>
                <a:spcPct val="101800"/>
              </a:lnSpc>
              <a:spcBef>
                <a:spcPts val="705"/>
              </a:spcBef>
            </a:pP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encoder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logic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circuit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 converts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2ⁿ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output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generating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binary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code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corresponds to 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4-</a:t>
            </a:r>
            <a:r>
              <a:rPr dirty="0" sz="1100" spc="-10">
                <a:latin typeface="Calibri"/>
                <a:cs typeface="Calibri"/>
              </a:rPr>
              <a:t>to-</a:t>
            </a:r>
            <a:r>
              <a:rPr dirty="0" sz="1100">
                <a:latin typeface="Calibri"/>
                <a:cs typeface="Calibri"/>
              </a:rPr>
              <a:t>2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encoder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project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accepts </a:t>
            </a:r>
            <a:r>
              <a:rPr dirty="0" sz="1100">
                <a:latin typeface="Calibri"/>
                <a:cs typeface="Calibri"/>
              </a:rPr>
              <a:t>four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produces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output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lines;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operation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expected 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be </a:t>
            </a:r>
            <a:r>
              <a:rPr dirty="0" sz="1100">
                <a:latin typeface="Calibri"/>
                <a:cs typeface="Calibri"/>
              </a:rPr>
              <a:t>HIGH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given</a:t>
            </a:r>
            <a:r>
              <a:rPr dirty="0" sz="1100" spc="-20">
                <a:latin typeface="Calibri"/>
                <a:cs typeface="Calibri"/>
              </a:rPr>
              <a:t> time.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Calibri"/>
              <a:cs typeface="Calibri"/>
            </a:endParaRPr>
          </a:p>
          <a:p>
            <a:pPr lvl="1" marL="243840" indent="-231140">
              <a:lnSpc>
                <a:spcPct val="100000"/>
              </a:lnSpc>
              <a:spcBef>
                <a:spcPts val="5"/>
              </a:spcBef>
              <a:buClr>
                <a:srgbClr val="1F4E5F"/>
              </a:buClr>
              <a:buFont typeface="Times New Roman"/>
              <a:buAutoNum type="arabicPeriod" startAt="2"/>
              <a:tabLst>
                <a:tab pos="243840" algn="l"/>
              </a:tabLst>
            </a:pP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Decoder</a:t>
            </a:r>
            <a:endParaRPr sz="1200">
              <a:latin typeface="Times New Roman"/>
              <a:cs typeface="Times New Roman"/>
            </a:endParaRPr>
          </a:p>
          <a:p>
            <a:pPr marL="12700" marR="70485">
              <a:lnSpc>
                <a:spcPct val="101800"/>
              </a:lnSpc>
              <a:spcBef>
                <a:spcPts val="700"/>
              </a:spcBef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decoder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performs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reverse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operation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encoder: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accepts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binary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code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activates </a:t>
            </a:r>
            <a:r>
              <a:rPr dirty="0" sz="1100">
                <a:latin typeface="Calibri"/>
                <a:cs typeface="Calibri"/>
              </a:rPr>
              <a:t>exactly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several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output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corresponding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code.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2-</a:t>
            </a:r>
            <a:r>
              <a:rPr dirty="0" sz="1100">
                <a:latin typeface="Calibri"/>
                <a:cs typeface="Calibri"/>
              </a:rPr>
              <a:t>to-4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decoder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project</a:t>
            </a:r>
            <a:r>
              <a:rPr dirty="0" sz="1100" spc="5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accepts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2-</a:t>
            </a:r>
            <a:r>
              <a:rPr dirty="0" sz="1100">
                <a:latin typeface="Calibri"/>
                <a:cs typeface="Calibri"/>
              </a:rPr>
              <a:t>bit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binary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drives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four output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lines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HIGH.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100">
              <a:latin typeface="Calibri"/>
              <a:cs typeface="Calibri"/>
            </a:endParaRPr>
          </a:p>
          <a:p>
            <a:pPr marL="203200" indent="-190500">
              <a:lnSpc>
                <a:spcPct val="100000"/>
              </a:lnSpc>
              <a:buClr>
                <a:srgbClr val="1F4E5F"/>
              </a:buClr>
              <a:buFont typeface="Times New Roman"/>
              <a:buAutoNum type="arabicPeriod" startAt="4"/>
              <a:tabLst>
                <a:tab pos="203200" algn="l"/>
              </a:tabLst>
            </a:pP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Design</a:t>
            </a:r>
            <a:r>
              <a:rPr dirty="0" sz="1500" spc="-4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Specification</a:t>
            </a:r>
            <a:r>
              <a:rPr dirty="0" sz="1500" spc="-4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and</a:t>
            </a:r>
            <a:r>
              <a:rPr dirty="0" sz="1500" spc="-4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Truth</a:t>
            </a:r>
            <a:r>
              <a:rPr dirty="0" sz="1500" spc="-4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Tables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Clr>
                <a:srgbClr val="1F4E5F"/>
              </a:buClr>
              <a:buFont typeface="Times New Roman"/>
              <a:buAutoNum type="arabicPeriod" startAt="4"/>
            </a:pPr>
            <a:endParaRPr sz="1500">
              <a:latin typeface="Times New Roman"/>
              <a:cs typeface="Times New Roman"/>
            </a:endParaRPr>
          </a:p>
          <a:p>
            <a:pPr lvl="1" marL="243840" indent="-231140">
              <a:lnSpc>
                <a:spcPct val="100000"/>
              </a:lnSpc>
              <a:buClr>
                <a:srgbClr val="1F4E5F"/>
              </a:buClr>
              <a:buFont typeface="Times New Roman"/>
              <a:buAutoNum type="arabicPeriod"/>
              <a:tabLst>
                <a:tab pos="243840" algn="l"/>
              </a:tabLst>
            </a:pPr>
            <a:r>
              <a:rPr dirty="0" sz="1200" spc="-20" b="1">
                <a:solidFill>
                  <a:srgbClr val="1F4E5F"/>
                </a:solidFill>
                <a:latin typeface="Times New Roman"/>
                <a:cs typeface="Times New Roman"/>
              </a:rPr>
              <a:t>4-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to-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2</a:t>
            </a:r>
            <a:r>
              <a:rPr dirty="0" sz="1200" spc="-2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Encoder</a:t>
            </a:r>
            <a:r>
              <a:rPr dirty="0" sz="1200" spc="-2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Truth</a:t>
            </a:r>
            <a:r>
              <a:rPr dirty="0" sz="1200" spc="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Table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100">
                <a:latin typeface="Calibri"/>
                <a:cs typeface="Calibri"/>
              </a:rPr>
              <a:t>Inputs: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D3,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D2,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D1, D0</a:t>
            </a:r>
            <a:r>
              <a:rPr dirty="0" sz="1100" spc="22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|</a:t>
            </a:r>
            <a:r>
              <a:rPr dirty="0" sz="1100" spc="24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Outputs: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Y1,</a:t>
            </a:r>
            <a:r>
              <a:rPr dirty="0" sz="1100" spc="-25">
                <a:latin typeface="Calibri"/>
                <a:cs typeface="Calibri"/>
              </a:rPr>
              <a:t> Y0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2</a:t>
            </a:fld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14704" y="8844686"/>
          <a:ext cx="4198620" cy="26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435"/>
                <a:gridCol w="686435"/>
                <a:gridCol w="686434"/>
                <a:gridCol w="685800"/>
                <a:gridCol w="685800"/>
                <a:gridCol w="685800"/>
              </a:tblGrid>
              <a:tr h="265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5128005" y="432561"/>
            <a:ext cx="17411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Encoder-Decoder-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Design</a:t>
            </a:r>
            <a:r>
              <a:rPr dirty="0" sz="800" spc="-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|</a:t>
            </a:r>
            <a:r>
              <a:rPr dirty="0" sz="800" spc="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Project</a:t>
            </a:r>
            <a:r>
              <a:rPr dirty="0" sz="800" spc="-1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Report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914653"/>
          <a:ext cx="4198620" cy="1050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435"/>
                <a:gridCol w="686435"/>
                <a:gridCol w="686434"/>
                <a:gridCol w="685800"/>
                <a:gridCol w="685800"/>
                <a:gridCol w="685800"/>
              </a:tblGrid>
              <a:tr h="2616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2379014"/>
            <a:ext cx="2416810" cy="56769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4.2 </a:t>
            </a:r>
            <a:r>
              <a:rPr dirty="0" sz="1200" spc="-20" b="1">
                <a:solidFill>
                  <a:srgbClr val="1F4E5F"/>
                </a:solidFill>
                <a:latin typeface="Times New Roman"/>
                <a:cs typeface="Times New Roman"/>
              </a:rPr>
              <a:t>2-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to-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4</a:t>
            </a:r>
            <a:r>
              <a:rPr dirty="0" sz="1200" spc="-2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Decoder</a:t>
            </a:r>
            <a:r>
              <a:rPr dirty="0" sz="1200" spc="-2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Truth</a:t>
            </a:r>
            <a:r>
              <a:rPr dirty="0" sz="1200" spc="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spc="-20" b="1">
                <a:solidFill>
                  <a:srgbClr val="1F4E5F"/>
                </a:solidFill>
                <a:latin typeface="Times New Roman"/>
                <a:cs typeface="Times New Roman"/>
              </a:rPr>
              <a:t>Table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100">
                <a:latin typeface="Calibri"/>
                <a:cs typeface="Calibri"/>
              </a:rPr>
              <a:t>Inputs: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A1,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A0</a:t>
            </a:r>
            <a:r>
              <a:rPr dirty="0" sz="1100" spc="22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|</a:t>
            </a:r>
            <a:r>
              <a:rPr dirty="0" sz="1100" spc="24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Outputs: Y3,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Y2,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Y1,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Y0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3042792"/>
          <a:ext cx="4198620" cy="1315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435"/>
                <a:gridCol w="686435"/>
                <a:gridCol w="686434"/>
                <a:gridCol w="685800"/>
                <a:gridCol w="685800"/>
                <a:gridCol w="685800"/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8005" y="432561"/>
            <a:ext cx="17411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Encoder-Decoder-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Design</a:t>
            </a:r>
            <a:r>
              <a:rPr dirty="0" sz="800" spc="-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|</a:t>
            </a:r>
            <a:r>
              <a:rPr dirty="0" sz="800" spc="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Project</a:t>
            </a:r>
            <a:r>
              <a:rPr dirty="0" sz="800" spc="-1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Report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6416" y="1182877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4"/>
                </a:lnTo>
                <a:lnTo>
                  <a:pt x="5982335" y="9144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2004" y="889761"/>
            <a:ext cx="5910580" cy="12827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10"/>
              </a:spcBef>
              <a:buClr>
                <a:srgbClr val="1F4E5F"/>
              </a:buClr>
              <a:buFont typeface="Times New Roman"/>
              <a:buAutoNum type="arabicPeriod" startAt="5"/>
              <a:tabLst>
                <a:tab pos="203200" algn="l"/>
              </a:tabLst>
            </a:pP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Verilog</a:t>
            </a:r>
            <a:r>
              <a:rPr dirty="0" sz="1500" spc="-4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Implementation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Clr>
                <a:srgbClr val="1F4E5F"/>
              </a:buClr>
              <a:buFont typeface="Times New Roman"/>
              <a:buAutoNum type="arabicPeriod" startAt="5"/>
            </a:pPr>
            <a:endParaRPr sz="1500">
              <a:latin typeface="Times New Roman"/>
              <a:cs typeface="Times New Roman"/>
            </a:endParaRPr>
          </a:p>
          <a:p>
            <a:pPr lvl="1" marL="243840" indent="-231140">
              <a:lnSpc>
                <a:spcPct val="100000"/>
              </a:lnSpc>
              <a:buClr>
                <a:srgbClr val="1F4E5F"/>
              </a:buClr>
              <a:buFont typeface="Times New Roman"/>
              <a:buAutoNum type="arabicPeriod"/>
              <a:tabLst>
                <a:tab pos="243840" algn="l"/>
              </a:tabLst>
            </a:pPr>
            <a:r>
              <a:rPr dirty="0" sz="1200" spc="-20" b="1">
                <a:solidFill>
                  <a:srgbClr val="1F4E5F"/>
                </a:solidFill>
                <a:latin typeface="Times New Roman"/>
                <a:cs typeface="Times New Roman"/>
              </a:rPr>
              <a:t>4-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to-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2</a:t>
            </a:r>
            <a:r>
              <a:rPr dirty="0" sz="1200" spc="-2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Encoder</a:t>
            </a:r>
            <a:r>
              <a:rPr dirty="0" sz="1200" spc="-2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Module (“4-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to-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2</a:t>
            </a:r>
            <a:r>
              <a:rPr dirty="0" sz="1200" spc="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encoder.v”)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1800"/>
              </a:lnSpc>
              <a:spcBef>
                <a:spcPts val="70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encoder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implemented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always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statement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maps</a:t>
            </a:r>
            <a:r>
              <a:rPr dirty="0" sz="1100" spc="-20">
                <a:latin typeface="Calibri"/>
                <a:cs typeface="Calibri"/>
              </a:rPr>
              <a:t> each </a:t>
            </a:r>
            <a:r>
              <a:rPr dirty="0" sz="1100">
                <a:latin typeface="Calibri"/>
                <a:cs typeface="Calibri"/>
              </a:rPr>
              <a:t>valid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one-</a:t>
            </a:r>
            <a:r>
              <a:rPr dirty="0" sz="1100">
                <a:latin typeface="Calibri"/>
                <a:cs typeface="Calibri"/>
              </a:rPr>
              <a:t>hot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pattern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corresponding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2-</a:t>
            </a:r>
            <a:r>
              <a:rPr dirty="0" sz="1100">
                <a:latin typeface="Calibri"/>
                <a:cs typeface="Calibri"/>
              </a:rPr>
              <a:t>bit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binary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output.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default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included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 </a:t>
            </a:r>
            <a:r>
              <a:rPr dirty="0" sz="1100" spc="-10">
                <a:latin typeface="Calibri"/>
                <a:cs typeface="Calibri"/>
              </a:rPr>
              <a:t>handle </a:t>
            </a:r>
            <a:r>
              <a:rPr dirty="0" sz="1100">
                <a:latin typeface="Calibri"/>
                <a:cs typeface="Calibri"/>
              </a:rPr>
              <a:t>undefined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/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invalid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combinations.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4600" y="2271395"/>
            <a:ext cx="6086475" cy="2369185"/>
          </a:xfrm>
          <a:prstGeom prst="rect">
            <a:avLst/>
          </a:prstGeom>
          <a:solidFill>
            <a:srgbClr val="F4F4F4"/>
          </a:solidFill>
          <a:ln w="6096">
            <a:solidFill>
              <a:srgbClr val="CCCCCC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337820" marR="4544695" indent="-268605">
              <a:lnSpc>
                <a:spcPct val="98000"/>
              </a:lnSpc>
              <a:spcBef>
                <a:spcPts val="365"/>
              </a:spcBef>
            </a:pPr>
            <a:r>
              <a:rPr dirty="0" sz="950">
                <a:latin typeface="Consolas"/>
                <a:cs typeface="Consolas"/>
              </a:rPr>
              <a:t>module</a:t>
            </a:r>
            <a:r>
              <a:rPr dirty="0" sz="950" spc="-20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encoder_4to2( </a:t>
            </a:r>
            <a:r>
              <a:rPr dirty="0" sz="950">
                <a:latin typeface="Consolas"/>
                <a:cs typeface="Consolas"/>
              </a:rPr>
              <a:t>input</a:t>
            </a:r>
            <a:r>
              <a:rPr dirty="0" sz="950" spc="-4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[3:0]</a:t>
            </a:r>
            <a:r>
              <a:rPr dirty="0" sz="950" spc="-20">
                <a:latin typeface="Consolas"/>
                <a:cs typeface="Consolas"/>
              </a:rPr>
              <a:t> </a:t>
            </a:r>
            <a:r>
              <a:rPr dirty="0" sz="950" spc="-25">
                <a:latin typeface="Consolas"/>
                <a:cs typeface="Consolas"/>
              </a:rPr>
              <a:t>d, </a:t>
            </a:r>
            <a:r>
              <a:rPr dirty="0" sz="950">
                <a:latin typeface="Consolas"/>
                <a:cs typeface="Consolas"/>
              </a:rPr>
              <a:t>output</a:t>
            </a:r>
            <a:r>
              <a:rPr dirty="0" sz="950" spc="-5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reg</a:t>
            </a:r>
            <a:r>
              <a:rPr dirty="0" sz="950" spc="-3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[1:0]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 spc="-50">
                <a:latin typeface="Consolas"/>
                <a:cs typeface="Consolas"/>
              </a:rPr>
              <a:t>y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105"/>
              </a:lnSpc>
            </a:pPr>
            <a:r>
              <a:rPr dirty="0" sz="950" spc="-25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onsolas"/>
              <a:cs typeface="Consolas"/>
            </a:endParaRPr>
          </a:p>
          <a:p>
            <a:pPr marL="337820" marR="4876800" indent="-268605">
              <a:lnSpc>
                <a:spcPts val="1100"/>
              </a:lnSpc>
            </a:pPr>
            <a:r>
              <a:rPr dirty="0" sz="950">
                <a:latin typeface="Consolas"/>
                <a:cs typeface="Consolas"/>
              </a:rPr>
              <a:t>always</a:t>
            </a:r>
            <a:r>
              <a:rPr dirty="0" sz="950" spc="-4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@(*)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begin </a:t>
            </a:r>
            <a:r>
              <a:rPr dirty="0" sz="950" spc="-10">
                <a:latin typeface="Consolas"/>
                <a:cs typeface="Consolas"/>
              </a:rPr>
              <a:t>case(d)</a:t>
            </a:r>
            <a:endParaRPr sz="950">
              <a:latin typeface="Consolas"/>
              <a:cs typeface="Consolas"/>
            </a:endParaRPr>
          </a:p>
          <a:p>
            <a:pPr marL="603250">
              <a:lnSpc>
                <a:spcPts val="1070"/>
              </a:lnSpc>
            </a:pPr>
            <a:r>
              <a:rPr dirty="0" sz="950">
                <a:latin typeface="Consolas"/>
                <a:cs typeface="Consolas"/>
              </a:rPr>
              <a:t>4'b0001: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y</a:t>
            </a:r>
            <a:r>
              <a:rPr dirty="0" sz="950" spc="-3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10">
                <a:latin typeface="Consolas"/>
                <a:cs typeface="Consolas"/>
              </a:rPr>
              <a:t> 2'b00;</a:t>
            </a:r>
            <a:endParaRPr sz="950">
              <a:latin typeface="Consolas"/>
              <a:cs typeface="Consolas"/>
            </a:endParaRPr>
          </a:p>
          <a:p>
            <a:pPr marL="603250">
              <a:lnSpc>
                <a:spcPts val="1115"/>
              </a:lnSpc>
            </a:pPr>
            <a:r>
              <a:rPr dirty="0" sz="950">
                <a:latin typeface="Consolas"/>
                <a:cs typeface="Consolas"/>
              </a:rPr>
              <a:t>4'b0010: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y</a:t>
            </a:r>
            <a:r>
              <a:rPr dirty="0" sz="950" spc="-3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10">
                <a:latin typeface="Consolas"/>
                <a:cs typeface="Consolas"/>
              </a:rPr>
              <a:t> 2'b01;</a:t>
            </a:r>
            <a:endParaRPr sz="950">
              <a:latin typeface="Consolas"/>
              <a:cs typeface="Consolas"/>
            </a:endParaRPr>
          </a:p>
          <a:p>
            <a:pPr marL="603250">
              <a:lnSpc>
                <a:spcPts val="1105"/>
              </a:lnSpc>
            </a:pPr>
            <a:r>
              <a:rPr dirty="0" sz="950">
                <a:latin typeface="Consolas"/>
                <a:cs typeface="Consolas"/>
              </a:rPr>
              <a:t>4'b0100: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y</a:t>
            </a:r>
            <a:r>
              <a:rPr dirty="0" sz="950" spc="-3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10">
                <a:latin typeface="Consolas"/>
                <a:cs typeface="Consolas"/>
              </a:rPr>
              <a:t> 2'b10;</a:t>
            </a:r>
            <a:endParaRPr sz="950">
              <a:latin typeface="Consolas"/>
              <a:cs typeface="Consolas"/>
            </a:endParaRPr>
          </a:p>
          <a:p>
            <a:pPr marL="603250">
              <a:lnSpc>
                <a:spcPts val="1115"/>
              </a:lnSpc>
            </a:pPr>
            <a:r>
              <a:rPr dirty="0" sz="950">
                <a:latin typeface="Consolas"/>
                <a:cs typeface="Consolas"/>
              </a:rPr>
              <a:t>4'b1000: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y</a:t>
            </a:r>
            <a:r>
              <a:rPr dirty="0" sz="950" spc="-3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10">
                <a:latin typeface="Consolas"/>
                <a:cs typeface="Consolas"/>
              </a:rPr>
              <a:t> 2'b11;</a:t>
            </a:r>
            <a:endParaRPr sz="950">
              <a:latin typeface="Consolas"/>
              <a:cs typeface="Consolas"/>
            </a:endParaRPr>
          </a:p>
          <a:p>
            <a:pPr marL="337820" marR="4212590" indent="265430">
              <a:lnSpc>
                <a:spcPts val="1100"/>
              </a:lnSpc>
              <a:spcBef>
                <a:spcPts val="65"/>
              </a:spcBef>
            </a:pPr>
            <a:r>
              <a:rPr dirty="0" sz="950">
                <a:latin typeface="Consolas"/>
                <a:cs typeface="Consolas"/>
              </a:rPr>
              <a:t>default:</a:t>
            </a:r>
            <a:r>
              <a:rPr dirty="0" sz="950" spc="-1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y</a:t>
            </a:r>
            <a:r>
              <a:rPr dirty="0" sz="950" spc="-3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10">
                <a:latin typeface="Consolas"/>
                <a:cs typeface="Consolas"/>
              </a:rPr>
              <a:t> 2'b00; endcase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080"/>
              </a:lnSpc>
            </a:pPr>
            <a:r>
              <a:rPr dirty="0" sz="950" spc="-25">
                <a:latin typeface="Consolas"/>
                <a:cs typeface="Consolas"/>
              </a:rPr>
              <a:t>end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Consolas"/>
              <a:cs typeface="Consolas"/>
            </a:endParaRPr>
          </a:p>
          <a:p>
            <a:pPr marL="69850">
              <a:lnSpc>
                <a:spcPct val="100000"/>
              </a:lnSpc>
            </a:pPr>
            <a:r>
              <a:rPr dirty="0" sz="950" spc="-10">
                <a:latin typeface="Consolas"/>
                <a:cs typeface="Consolas"/>
              </a:rPr>
              <a:t>endmodule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4717729"/>
            <a:ext cx="5868670" cy="73215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5.2</a:t>
            </a:r>
            <a:r>
              <a:rPr dirty="0" sz="1200" spc="2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spc="-20" b="1">
                <a:solidFill>
                  <a:srgbClr val="1F4E5F"/>
                </a:solidFill>
                <a:latin typeface="Times New Roman"/>
                <a:cs typeface="Times New Roman"/>
              </a:rPr>
              <a:t>2-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to-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4</a:t>
            </a:r>
            <a:r>
              <a:rPr dirty="0" sz="1200" spc="-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Decoder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Module</a:t>
            </a:r>
            <a:r>
              <a:rPr dirty="0" sz="1200" spc="1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(“2</a:t>
            </a:r>
            <a:r>
              <a:rPr dirty="0" sz="1200" spc="3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spc="-30" b="1">
                <a:solidFill>
                  <a:srgbClr val="1F4E5F"/>
                </a:solidFill>
                <a:latin typeface="Times New Roman"/>
                <a:cs typeface="Times New Roman"/>
              </a:rPr>
              <a:t>-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to-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4</a:t>
            </a:r>
            <a:r>
              <a:rPr dirty="0" sz="1200" spc="-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decoder.v”)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1800"/>
              </a:lnSpc>
              <a:spcBef>
                <a:spcPts val="67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decoder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implemented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always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block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statement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activates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one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four</a:t>
            </a:r>
            <a:r>
              <a:rPr dirty="0" sz="1100" spc="-10">
                <a:latin typeface="Calibri"/>
                <a:cs typeface="Calibri"/>
              </a:rPr>
              <a:t> one-</a:t>
            </a:r>
            <a:r>
              <a:rPr dirty="0" sz="1100">
                <a:latin typeface="Calibri"/>
                <a:cs typeface="Calibri"/>
              </a:rPr>
              <a:t>hot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output bits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based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0">
                <a:latin typeface="Calibri"/>
                <a:cs typeface="Calibri"/>
              </a:rPr>
              <a:t> 2-</a:t>
            </a:r>
            <a:r>
              <a:rPr dirty="0" sz="1100">
                <a:latin typeface="Calibri"/>
                <a:cs typeface="Calibri"/>
              </a:rPr>
              <a:t>bit binary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address.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4600" y="5551932"/>
            <a:ext cx="6086475" cy="2225675"/>
          </a:xfrm>
          <a:prstGeom prst="rect">
            <a:avLst/>
          </a:prstGeom>
          <a:solidFill>
            <a:srgbClr val="F4F4F4"/>
          </a:solidFill>
          <a:ln w="6096">
            <a:solidFill>
              <a:srgbClr val="CCCCCC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marL="337820" marR="4544695" indent="-268605">
              <a:lnSpc>
                <a:spcPts val="1110"/>
              </a:lnSpc>
              <a:spcBef>
                <a:spcPts val="405"/>
              </a:spcBef>
            </a:pPr>
            <a:r>
              <a:rPr dirty="0" sz="950">
                <a:latin typeface="Consolas"/>
                <a:cs typeface="Consolas"/>
              </a:rPr>
              <a:t>module</a:t>
            </a:r>
            <a:r>
              <a:rPr dirty="0" sz="950" spc="-20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decoder_2to4( </a:t>
            </a:r>
            <a:r>
              <a:rPr dirty="0" sz="950">
                <a:latin typeface="Consolas"/>
                <a:cs typeface="Consolas"/>
              </a:rPr>
              <a:t>input</a:t>
            </a:r>
            <a:r>
              <a:rPr dirty="0" sz="950" spc="-4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[1:0]</a:t>
            </a:r>
            <a:r>
              <a:rPr dirty="0" sz="950" spc="-20">
                <a:latin typeface="Consolas"/>
                <a:cs typeface="Consolas"/>
              </a:rPr>
              <a:t> </a:t>
            </a:r>
            <a:r>
              <a:rPr dirty="0" sz="950" spc="-25">
                <a:latin typeface="Consolas"/>
                <a:cs typeface="Consolas"/>
              </a:rPr>
              <a:t>a, </a:t>
            </a:r>
            <a:r>
              <a:rPr dirty="0" sz="950">
                <a:latin typeface="Consolas"/>
                <a:cs typeface="Consolas"/>
              </a:rPr>
              <a:t>output</a:t>
            </a:r>
            <a:r>
              <a:rPr dirty="0" sz="950" spc="-5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reg</a:t>
            </a:r>
            <a:r>
              <a:rPr dirty="0" sz="950" spc="-3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[3:0]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 spc="-50">
                <a:latin typeface="Consolas"/>
                <a:cs typeface="Consolas"/>
              </a:rPr>
              <a:t>y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060"/>
              </a:lnSpc>
            </a:pPr>
            <a:r>
              <a:rPr dirty="0" sz="950" spc="-25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onsolas"/>
              <a:cs typeface="Consolas"/>
            </a:endParaRPr>
          </a:p>
          <a:p>
            <a:pPr marL="337820" marR="4876800" indent="-268605">
              <a:lnSpc>
                <a:spcPts val="1100"/>
              </a:lnSpc>
            </a:pPr>
            <a:r>
              <a:rPr dirty="0" sz="950">
                <a:latin typeface="Consolas"/>
                <a:cs typeface="Consolas"/>
              </a:rPr>
              <a:t>always</a:t>
            </a:r>
            <a:r>
              <a:rPr dirty="0" sz="950" spc="-4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@(*)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begin </a:t>
            </a:r>
            <a:r>
              <a:rPr dirty="0" sz="950" spc="-10">
                <a:latin typeface="Consolas"/>
                <a:cs typeface="Consolas"/>
              </a:rPr>
              <a:t>case(a)</a:t>
            </a:r>
            <a:endParaRPr sz="950">
              <a:latin typeface="Consolas"/>
              <a:cs typeface="Consolas"/>
            </a:endParaRPr>
          </a:p>
          <a:p>
            <a:pPr marL="603250">
              <a:lnSpc>
                <a:spcPts val="1085"/>
              </a:lnSpc>
            </a:pPr>
            <a:r>
              <a:rPr dirty="0" sz="950">
                <a:latin typeface="Consolas"/>
                <a:cs typeface="Consolas"/>
              </a:rPr>
              <a:t>2'b00:</a:t>
            </a:r>
            <a:r>
              <a:rPr dirty="0" sz="950" spc="-4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y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4'b0001;</a:t>
            </a:r>
            <a:endParaRPr sz="950">
              <a:latin typeface="Consolas"/>
              <a:cs typeface="Consolas"/>
            </a:endParaRPr>
          </a:p>
          <a:p>
            <a:pPr marL="603250">
              <a:lnSpc>
                <a:spcPts val="1120"/>
              </a:lnSpc>
            </a:pPr>
            <a:r>
              <a:rPr dirty="0" sz="950">
                <a:latin typeface="Consolas"/>
                <a:cs typeface="Consolas"/>
              </a:rPr>
              <a:t>2'b01:</a:t>
            </a:r>
            <a:r>
              <a:rPr dirty="0" sz="950" spc="-4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y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4'b0010;</a:t>
            </a:r>
            <a:endParaRPr sz="950">
              <a:latin typeface="Consolas"/>
              <a:cs typeface="Consolas"/>
            </a:endParaRPr>
          </a:p>
          <a:p>
            <a:pPr marL="603250">
              <a:lnSpc>
                <a:spcPts val="1115"/>
              </a:lnSpc>
            </a:pPr>
            <a:r>
              <a:rPr dirty="0" sz="950">
                <a:latin typeface="Consolas"/>
                <a:cs typeface="Consolas"/>
              </a:rPr>
              <a:t>2'b10:</a:t>
            </a:r>
            <a:r>
              <a:rPr dirty="0" sz="950" spc="-4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y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4'b0100;</a:t>
            </a:r>
            <a:endParaRPr sz="950">
              <a:latin typeface="Consolas"/>
              <a:cs typeface="Consolas"/>
            </a:endParaRPr>
          </a:p>
          <a:p>
            <a:pPr marL="603250">
              <a:lnSpc>
                <a:spcPts val="1105"/>
              </a:lnSpc>
            </a:pPr>
            <a:r>
              <a:rPr dirty="0" sz="950">
                <a:latin typeface="Consolas"/>
                <a:cs typeface="Consolas"/>
              </a:rPr>
              <a:t>2'b11:</a:t>
            </a:r>
            <a:r>
              <a:rPr dirty="0" sz="950" spc="-4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y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4'b1000;</a:t>
            </a:r>
            <a:endParaRPr sz="950">
              <a:latin typeface="Consolas"/>
              <a:cs typeface="Consolas"/>
            </a:endParaRPr>
          </a:p>
          <a:p>
            <a:pPr marL="337820">
              <a:lnSpc>
                <a:spcPts val="1115"/>
              </a:lnSpc>
            </a:pPr>
            <a:r>
              <a:rPr dirty="0" sz="950" spc="-10">
                <a:latin typeface="Consolas"/>
                <a:cs typeface="Consolas"/>
              </a:rPr>
              <a:t>endcase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135"/>
              </a:lnSpc>
            </a:pPr>
            <a:r>
              <a:rPr dirty="0" sz="950" spc="-25">
                <a:latin typeface="Consolas"/>
                <a:cs typeface="Consolas"/>
              </a:rPr>
              <a:t>end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ct val="100000"/>
              </a:lnSpc>
              <a:spcBef>
                <a:spcPts val="1095"/>
              </a:spcBef>
            </a:pPr>
            <a:r>
              <a:rPr dirty="0" sz="950" spc="-10">
                <a:latin typeface="Consolas"/>
                <a:cs typeface="Consolas"/>
              </a:rPr>
              <a:t>endmodule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6416" y="8305165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3"/>
                </a:lnTo>
                <a:lnTo>
                  <a:pt x="5982335" y="9143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2004" y="8009001"/>
            <a:ext cx="5878830" cy="779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6.</a:t>
            </a:r>
            <a:r>
              <a:rPr dirty="0" sz="1500" spc="-2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Testbench</a:t>
            </a:r>
            <a:r>
              <a:rPr dirty="0" sz="1500" spc="-2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(“testbench.v”)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01800"/>
              </a:lnSpc>
              <a:spcBef>
                <a:spcPts val="1435"/>
              </a:spcBef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unified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testbench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instantiates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both 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encoder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decoder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modules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exercises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with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valid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combinations,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applying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stimulus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before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moving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next.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8005" y="432561"/>
            <a:ext cx="17411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Encoder-Decoder-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Design</a:t>
            </a:r>
            <a:r>
              <a:rPr dirty="0" sz="800" spc="-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|</a:t>
            </a:r>
            <a:r>
              <a:rPr dirty="0" sz="800" spc="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Project</a:t>
            </a:r>
            <a:r>
              <a:rPr dirty="0" sz="800" spc="-1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Report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4600" y="917702"/>
            <a:ext cx="6086475" cy="5335905"/>
          </a:xfrm>
          <a:prstGeom prst="rect">
            <a:avLst/>
          </a:prstGeom>
          <a:solidFill>
            <a:srgbClr val="F4F4F4"/>
          </a:solidFill>
          <a:ln w="6096">
            <a:solidFill>
              <a:srgbClr val="CCCCCC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69850">
              <a:lnSpc>
                <a:spcPct val="100000"/>
              </a:lnSpc>
              <a:spcBef>
                <a:spcPts val="345"/>
              </a:spcBef>
            </a:pPr>
            <a:r>
              <a:rPr dirty="0" sz="950">
                <a:latin typeface="Consolas"/>
                <a:cs typeface="Consolas"/>
              </a:rPr>
              <a:t>module</a:t>
            </a:r>
            <a:r>
              <a:rPr dirty="0" sz="950" spc="-20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tb_encoder_decoder;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135"/>
              </a:lnSpc>
              <a:spcBef>
                <a:spcPts val="1065"/>
              </a:spcBef>
            </a:pPr>
            <a:r>
              <a:rPr dirty="0" sz="950">
                <a:latin typeface="Consolas"/>
                <a:cs typeface="Consolas"/>
              </a:rPr>
              <a:t>reg</a:t>
            </a:r>
            <a:r>
              <a:rPr dirty="0" sz="950" spc="-2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[3:0]</a:t>
            </a:r>
            <a:r>
              <a:rPr dirty="0" sz="950" spc="-30">
                <a:latin typeface="Consolas"/>
                <a:cs typeface="Consolas"/>
              </a:rPr>
              <a:t> </a:t>
            </a:r>
            <a:r>
              <a:rPr dirty="0" sz="950" spc="-25">
                <a:latin typeface="Consolas"/>
                <a:cs typeface="Consolas"/>
              </a:rPr>
              <a:t>d;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135"/>
              </a:lnSpc>
            </a:pPr>
            <a:r>
              <a:rPr dirty="0" sz="950">
                <a:latin typeface="Consolas"/>
                <a:cs typeface="Consolas"/>
              </a:rPr>
              <a:t>wire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[1:0]</a:t>
            </a:r>
            <a:r>
              <a:rPr dirty="0" sz="950" spc="-30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y_enc;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135"/>
              </a:lnSpc>
              <a:spcBef>
                <a:spcPts val="1075"/>
              </a:spcBef>
            </a:pPr>
            <a:r>
              <a:rPr dirty="0" sz="950">
                <a:latin typeface="Consolas"/>
                <a:cs typeface="Consolas"/>
              </a:rPr>
              <a:t>reg</a:t>
            </a:r>
            <a:r>
              <a:rPr dirty="0" sz="950" spc="-2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[1:0]</a:t>
            </a:r>
            <a:r>
              <a:rPr dirty="0" sz="950" spc="-30">
                <a:latin typeface="Consolas"/>
                <a:cs typeface="Consolas"/>
              </a:rPr>
              <a:t> </a:t>
            </a:r>
            <a:r>
              <a:rPr dirty="0" sz="950" spc="-25">
                <a:latin typeface="Consolas"/>
                <a:cs typeface="Consolas"/>
              </a:rPr>
              <a:t>a;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135"/>
              </a:lnSpc>
            </a:pPr>
            <a:r>
              <a:rPr dirty="0" sz="950">
                <a:latin typeface="Consolas"/>
                <a:cs typeface="Consolas"/>
              </a:rPr>
              <a:t>wire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[3:0]</a:t>
            </a:r>
            <a:r>
              <a:rPr dirty="0" sz="950" spc="-30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y_dec;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120"/>
              </a:lnSpc>
              <a:spcBef>
                <a:spcPts val="1090"/>
              </a:spcBef>
            </a:pPr>
            <a:r>
              <a:rPr dirty="0" sz="950">
                <a:latin typeface="Consolas"/>
                <a:cs typeface="Consolas"/>
              </a:rPr>
              <a:t>encoder_4to2</a:t>
            </a:r>
            <a:r>
              <a:rPr dirty="0" sz="950" spc="-55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ENC(</a:t>
            </a:r>
            <a:endParaRPr sz="950">
              <a:latin typeface="Consolas"/>
              <a:cs typeface="Consolas"/>
            </a:endParaRPr>
          </a:p>
          <a:p>
            <a:pPr marL="337820">
              <a:lnSpc>
                <a:spcPts val="1105"/>
              </a:lnSpc>
            </a:pPr>
            <a:r>
              <a:rPr dirty="0" sz="950" spc="-10">
                <a:latin typeface="Consolas"/>
                <a:cs typeface="Consolas"/>
              </a:rPr>
              <a:t>.d(d),</a:t>
            </a:r>
            <a:endParaRPr sz="950">
              <a:latin typeface="Consolas"/>
              <a:cs typeface="Consolas"/>
            </a:endParaRPr>
          </a:p>
          <a:p>
            <a:pPr marL="337820">
              <a:lnSpc>
                <a:spcPts val="1115"/>
              </a:lnSpc>
            </a:pPr>
            <a:r>
              <a:rPr dirty="0" sz="950" spc="-10">
                <a:latin typeface="Consolas"/>
                <a:cs typeface="Consolas"/>
              </a:rPr>
              <a:t>.y(y_enc)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135"/>
              </a:lnSpc>
            </a:pPr>
            <a:r>
              <a:rPr dirty="0" sz="950" spc="-25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135"/>
              </a:lnSpc>
              <a:spcBef>
                <a:spcPts val="1070"/>
              </a:spcBef>
            </a:pPr>
            <a:r>
              <a:rPr dirty="0" sz="950">
                <a:latin typeface="Consolas"/>
                <a:cs typeface="Consolas"/>
              </a:rPr>
              <a:t>decoder_2to4</a:t>
            </a:r>
            <a:r>
              <a:rPr dirty="0" sz="950" spc="-55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DEC(</a:t>
            </a:r>
            <a:endParaRPr sz="950">
              <a:latin typeface="Consolas"/>
              <a:cs typeface="Consolas"/>
            </a:endParaRPr>
          </a:p>
          <a:p>
            <a:pPr marL="337820">
              <a:lnSpc>
                <a:spcPts val="1115"/>
              </a:lnSpc>
            </a:pPr>
            <a:r>
              <a:rPr dirty="0" sz="950" spc="-10">
                <a:latin typeface="Consolas"/>
                <a:cs typeface="Consolas"/>
              </a:rPr>
              <a:t>.a(a),</a:t>
            </a:r>
            <a:endParaRPr sz="950">
              <a:latin typeface="Consolas"/>
              <a:cs typeface="Consolas"/>
            </a:endParaRPr>
          </a:p>
          <a:p>
            <a:pPr marL="337820">
              <a:lnSpc>
                <a:spcPts val="1105"/>
              </a:lnSpc>
            </a:pPr>
            <a:r>
              <a:rPr dirty="0" sz="950" spc="-10">
                <a:latin typeface="Consolas"/>
                <a:cs typeface="Consolas"/>
              </a:rPr>
              <a:t>.y(y_dec)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120"/>
              </a:lnSpc>
            </a:pPr>
            <a:r>
              <a:rPr dirty="0" sz="950" spc="-25">
                <a:latin typeface="Consolas"/>
                <a:cs typeface="Consolas"/>
              </a:rPr>
              <a:t>);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ct val="100000"/>
              </a:lnSpc>
              <a:spcBef>
                <a:spcPts val="1090"/>
              </a:spcBef>
            </a:pPr>
            <a:r>
              <a:rPr dirty="0" sz="950">
                <a:latin typeface="Consolas"/>
                <a:cs typeface="Consolas"/>
              </a:rPr>
              <a:t>initial</a:t>
            </a:r>
            <a:r>
              <a:rPr dirty="0" sz="950" spc="-20">
                <a:latin typeface="Consolas"/>
                <a:cs typeface="Consolas"/>
              </a:rPr>
              <a:t> begin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Consolas"/>
              <a:cs typeface="Consolas"/>
            </a:endParaRPr>
          </a:p>
          <a:p>
            <a:pPr marL="69850" marR="4810125">
              <a:lnSpc>
                <a:spcPct val="97400"/>
              </a:lnSpc>
              <a:spcBef>
                <a:spcPts val="5"/>
              </a:spcBef>
            </a:pPr>
            <a:r>
              <a:rPr dirty="0" sz="950">
                <a:latin typeface="Consolas"/>
                <a:cs typeface="Consolas"/>
              </a:rPr>
              <a:t>//</a:t>
            </a:r>
            <a:r>
              <a:rPr dirty="0" sz="950" spc="-2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Encoder</a:t>
            </a:r>
            <a:r>
              <a:rPr dirty="0" sz="950" spc="-30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Testing </a:t>
            </a:r>
            <a:r>
              <a:rPr dirty="0" sz="950">
                <a:latin typeface="Consolas"/>
                <a:cs typeface="Consolas"/>
              </a:rPr>
              <a:t>d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4'b0001;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#10; </a:t>
            </a:r>
            <a:r>
              <a:rPr dirty="0" sz="950">
                <a:latin typeface="Consolas"/>
                <a:cs typeface="Consolas"/>
              </a:rPr>
              <a:t>d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4'b0010;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#10; </a:t>
            </a:r>
            <a:r>
              <a:rPr dirty="0" sz="950">
                <a:latin typeface="Consolas"/>
                <a:cs typeface="Consolas"/>
              </a:rPr>
              <a:t>d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4'b0100;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#10; </a:t>
            </a:r>
            <a:r>
              <a:rPr dirty="0" sz="950">
                <a:latin typeface="Consolas"/>
                <a:cs typeface="Consolas"/>
              </a:rPr>
              <a:t>d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4'b1000;</a:t>
            </a:r>
            <a:r>
              <a:rPr dirty="0" sz="950" spc="-10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#10;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Consolas"/>
              <a:cs typeface="Consolas"/>
            </a:endParaRPr>
          </a:p>
          <a:p>
            <a:pPr marL="69850" marR="4810125">
              <a:lnSpc>
                <a:spcPts val="1100"/>
              </a:lnSpc>
            </a:pPr>
            <a:r>
              <a:rPr dirty="0" sz="950">
                <a:latin typeface="Consolas"/>
                <a:cs typeface="Consolas"/>
              </a:rPr>
              <a:t>//</a:t>
            </a:r>
            <a:r>
              <a:rPr dirty="0" sz="950" spc="-20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Decoder</a:t>
            </a:r>
            <a:r>
              <a:rPr dirty="0" sz="950" spc="-30">
                <a:latin typeface="Consolas"/>
                <a:cs typeface="Consolas"/>
              </a:rPr>
              <a:t> </a:t>
            </a:r>
            <a:r>
              <a:rPr dirty="0" sz="950" spc="-10">
                <a:latin typeface="Consolas"/>
                <a:cs typeface="Consolas"/>
              </a:rPr>
              <a:t>Testing </a:t>
            </a:r>
            <a:r>
              <a:rPr dirty="0" sz="950">
                <a:latin typeface="Consolas"/>
                <a:cs typeface="Consolas"/>
              </a:rPr>
              <a:t>a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2'b00;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#10;</a:t>
            </a:r>
            <a:endParaRPr sz="950">
              <a:latin typeface="Consolas"/>
              <a:cs typeface="Consolas"/>
            </a:endParaRPr>
          </a:p>
          <a:p>
            <a:pPr marL="69850">
              <a:lnSpc>
                <a:spcPts val="1070"/>
              </a:lnSpc>
            </a:pPr>
            <a:r>
              <a:rPr dirty="0" sz="950">
                <a:latin typeface="Consolas"/>
                <a:cs typeface="Consolas"/>
              </a:rPr>
              <a:t>a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2'b01;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#10;</a:t>
            </a:r>
            <a:endParaRPr sz="950">
              <a:latin typeface="Consolas"/>
              <a:cs typeface="Consolas"/>
            </a:endParaRPr>
          </a:p>
          <a:p>
            <a:pPr marL="69850" marR="5011420">
              <a:lnSpc>
                <a:spcPts val="1100"/>
              </a:lnSpc>
              <a:spcBef>
                <a:spcPts val="65"/>
              </a:spcBef>
            </a:pPr>
            <a:r>
              <a:rPr dirty="0" sz="950">
                <a:latin typeface="Consolas"/>
                <a:cs typeface="Consolas"/>
              </a:rPr>
              <a:t>a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2'b10;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#10; </a:t>
            </a:r>
            <a:r>
              <a:rPr dirty="0" sz="950">
                <a:latin typeface="Consolas"/>
                <a:cs typeface="Consolas"/>
              </a:rPr>
              <a:t>a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=</a:t>
            </a:r>
            <a:r>
              <a:rPr dirty="0" sz="950" spc="-5">
                <a:latin typeface="Consolas"/>
                <a:cs typeface="Consolas"/>
              </a:rPr>
              <a:t> </a:t>
            </a:r>
            <a:r>
              <a:rPr dirty="0" sz="950">
                <a:latin typeface="Consolas"/>
                <a:cs typeface="Consolas"/>
              </a:rPr>
              <a:t>2'b11;</a:t>
            </a:r>
            <a:r>
              <a:rPr dirty="0" sz="950" spc="-25">
                <a:latin typeface="Consolas"/>
                <a:cs typeface="Consolas"/>
              </a:rPr>
              <a:t> </a:t>
            </a:r>
            <a:r>
              <a:rPr dirty="0" sz="950" spc="-20">
                <a:latin typeface="Consolas"/>
                <a:cs typeface="Consolas"/>
              </a:rPr>
              <a:t>#10;</a:t>
            </a:r>
            <a:endParaRPr sz="950">
              <a:latin typeface="Consolas"/>
              <a:cs typeface="Consolas"/>
            </a:endParaRPr>
          </a:p>
          <a:p>
            <a:pPr marL="69850" marR="5407660">
              <a:lnSpc>
                <a:spcPts val="2230"/>
              </a:lnSpc>
              <a:spcBef>
                <a:spcPts val="229"/>
              </a:spcBef>
            </a:pPr>
            <a:r>
              <a:rPr dirty="0" sz="950" spc="-10">
                <a:latin typeface="Consolas"/>
                <a:cs typeface="Consolas"/>
              </a:rPr>
              <a:t>$finish; </a:t>
            </a:r>
            <a:r>
              <a:rPr dirty="0" sz="950" spc="-25">
                <a:latin typeface="Consolas"/>
                <a:cs typeface="Consolas"/>
              </a:rPr>
              <a:t>end </a:t>
            </a:r>
            <a:r>
              <a:rPr dirty="0" sz="950" spc="-10">
                <a:latin typeface="Consolas"/>
                <a:cs typeface="Consolas"/>
              </a:rPr>
              <a:t>endmodule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780529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4"/>
                </a:lnTo>
                <a:lnTo>
                  <a:pt x="5982335" y="9144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02004" y="6484366"/>
            <a:ext cx="5420360" cy="1150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10"/>
              </a:spcBef>
              <a:buClr>
                <a:srgbClr val="1F4E5F"/>
              </a:buClr>
              <a:buFont typeface="Times New Roman"/>
              <a:buAutoNum type="arabicPeriod" startAt="7"/>
              <a:tabLst>
                <a:tab pos="203200" algn="l"/>
              </a:tabLst>
            </a:pP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Simulation</a:t>
            </a:r>
            <a:r>
              <a:rPr dirty="0" sz="1500" spc="-6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Results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01800"/>
              </a:lnSpc>
              <a:spcBef>
                <a:spcPts val="143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testbench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every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valid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both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modules.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expected</a:t>
            </a:r>
            <a:r>
              <a:rPr dirty="0" sz="1100" spc="-10">
                <a:latin typeface="Calibri"/>
                <a:cs typeface="Calibri"/>
              </a:rPr>
              <a:t> simulation </a:t>
            </a:r>
            <a:r>
              <a:rPr dirty="0" sz="1100">
                <a:latin typeface="Calibri"/>
                <a:cs typeface="Calibri"/>
              </a:rPr>
              <a:t>outcomes,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matching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truth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Section 4,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summarized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below.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Calibri"/>
              <a:cs typeface="Calibri"/>
            </a:endParaRPr>
          </a:p>
          <a:p>
            <a:pPr lvl="1" marL="243840" indent="-231140">
              <a:lnSpc>
                <a:spcPct val="100000"/>
              </a:lnSpc>
              <a:buClr>
                <a:srgbClr val="1F4E5F"/>
              </a:buClr>
              <a:buFont typeface="Times New Roman"/>
              <a:buAutoNum type="arabicPeriod"/>
              <a:tabLst>
                <a:tab pos="243840" algn="l"/>
              </a:tabLst>
            </a:pP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Encoder</a:t>
            </a:r>
            <a:r>
              <a:rPr dirty="0" sz="1200" spc="-6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Simulation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2</a:t>
            </a:fld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14704" y="7719694"/>
          <a:ext cx="2879090" cy="131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6365"/>
                <a:gridCol w="1399540"/>
              </a:tblGrid>
              <a:tr h="2622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(D3</a:t>
                      </a:r>
                      <a:r>
                        <a:rPr dirty="0" sz="10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D2</a:t>
                      </a:r>
                      <a:r>
                        <a:rPr dirty="0" sz="10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D1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D0)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r>
                        <a:rPr dirty="0" sz="10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(Y1</a:t>
                      </a:r>
                      <a:r>
                        <a:rPr dirty="0" sz="10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Y0)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0001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0010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5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8005" y="432561"/>
            <a:ext cx="17411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Encoder-Decoder-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Design</a:t>
            </a:r>
            <a:r>
              <a:rPr dirty="0" sz="800" spc="-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|</a:t>
            </a:r>
            <a:r>
              <a:rPr dirty="0" sz="800" spc="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Project</a:t>
            </a:r>
            <a:r>
              <a:rPr dirty="0" sz="800" spc="-1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Report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228090"/>
            <a:ext cx="15417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7.2</a:t>
            </a:r>
            <a:r>
              <a:rPr dirty="0" sz="1200" spc="-1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Decoder</a:t>
            </a:r>
            <a:r>
              <a:rPr dirty="0" sz="1200" spc="-4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Simulation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1521205"/>
          <a:ext cx="2879090" cy="1315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6365"/>
                <a:gridCol w="1399540"/>
              </a:tblGrid>
              <a:tr h="26225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(A1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A0)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Output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(Y3</a:t>
                      </a:r>
                      <a:r>
                        <a:rPr dirty="0" sz="1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Y2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Y1</a:t>
                      </a:r>
                      <a:r>
                        <a:rPr dirty="0" sz="10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Y0)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0001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0010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0100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20">
                          <a:latin typeface="Calibri"/>
                          <a:cs typeface="Calibri"/>
                        </a:rPr>
                        <a:t>1000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02004" y="3247279"/>
            <a:ext cx="5909310" cy="90995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7.3</a:t>
            </a:r>
            <a:r>
              <a:rPr dirty="0" sz="1200" spc="-1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Simulation 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Waveform</a:t>
            </a:r>
            <a:r>
              <a:rPr dirty="0" sz="1200" spc="-2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1F4E5F"/>
                </a:solidFill>
                <a:latin typeface="Times New Roman"/>
                <a:cs typeface="Times New Roman"/>
              </a:rPr>
              <a:t>/</a:t>
            </a:r>
            <a:r>
              <a:rPr dirty="0" sz="1200" spc="-15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F4E5F"/>
                </a:solidFill>
                <a:latin typeface="Times New Roman"/>
                <a:cs typeface="Times New Roman"/>
              </a:rPr>
              <a:t>Screenshot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1800"/>
              </a:lnSpc>
              <a:spcBef>
                <a:spcPts val="705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repository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includes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simulation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screenshot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(screenshot.png.png)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captured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HDL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simulator, </a:t>
            </a:r>
            <a:r>
              <a:rPr dirty="0" sz="1100">
                <a:latin typeface="Calibri"/>
                <a:cs typeface="Calibri"/>
              </a:rPr>
              <a:t>showing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waveform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/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output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console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confirming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both modules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produced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results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consistent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with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truth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tables</a:t>
            </a:r>
            <a:r>
              <a:rPr dirty="0" sz="1100" spc="-20">
                <a:latin typeface="Calibri"/>
                <a:cs typeface="Calibri"/>
              </a:rPr>
              <a:t> above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7649082"/>
            <a:ext cx="1939289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8.</a:t>
            </a:r>
            <a:r>
              <a:rPr dirty="0" sz="1500" spc="-4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F4E5F"/>
                </a:solidFill>
                <a:latin typeface="Times New Roman"/>
                <a:cs typeface="Times New Roman"/>
              </a:rPr>
              <a:t>Repository</a:t>
            </a:r>
            <a:r>
              <a:rPr dirty="0" sz="1500" spc="-30" b="1">
                <a:solidFill>
                  <a:srgbClr val="1F4E5F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Structure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6416" y="7948549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3"/>
                </a:lnTo>
                <a:lnTo>
                  <a:pt x="5982335" y="9143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14704" y="8085709"/>
          <a:ext cx="3384550" cy="678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2905"/>
                <a:gridCol w="1649730"/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marL="52451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4-to-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0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encoder.v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2590" marR="79375" indent="-3086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Verilog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source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for the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4-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 encoder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module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253357"/>
            <a:ext cx="5943600" cy="316865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8005" y="432561"/>
            <a:ext cx="17411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Encoder-Decoder-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Design</a:t>
            </a:r>
            <a:r>
              <a:rPr dirty="0" sz="800" spc="-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|</a:t>
            </a:r>
            <a:r>
              <a:rPr dirty="0" sz="800" spc="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999999"/>
                </a:solidFill>
                <a:latin typeface="Calibri"/>
                <a:cs typeface="Calibri"/>
              </a:rPr>
              <a:t>Project</a:t>
            </a:r>
            <a:r>
              <a:rPr dirty="0" sz="800" spc="-15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99999"/>
                </a:solidFill>
                <a:latin typeface="Calibri"/>
                <a:cs typeface="Calibri"/>
              </a:rPr>
              <a:t>Report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914653"/>
          <a:ext cx="3384550" cy="2244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2905"/>
                <a:gridCol w="1649730"/>
              </a:tblGrid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decoder.v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2590" marR="79375" indent="-3086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Verilog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source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for the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2-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 decoder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module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testbench.v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5090" marR="78740" indent="4445">
                        <a:lnSpc>
                          <a:spcPct val="101099"/>
                        </a:lnSpc>
                        <a:spcBef>
                          <a:spcPts val="37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Unified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testbench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instantiating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stimulating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both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modules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76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screenshot.png.png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795" marR="255270" indent="55244">
                        <a:lnSpc>
                          <a:spcPct val="102000"/>
                        </a:lnSpc>
                        <a:spcBef>
                          <a:spcPts val="36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Simulation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output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 waveform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screenshot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2770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README.md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12725" marR="202565">
                        <a:lnSpc>
                          <a:spcPct val="102099"/>
                        </a:lnSpc>
                        <a:spcBef>
                          <a:spcPts val="36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Project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documentation: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overview,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theory,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truth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tables,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code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LICENSE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MIT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License</a:t>
                      </a:r>
                      <a:r>
                        <a:rPr dirty="0" sz="10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text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96416" y="4305046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4"/>
                </a:lnTo>
                <a:lnTo>
                  <a:pt x="5982335" y="9144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6192265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4"/>
                </a:lnTo>
                <a:lnTo>
                  <a:pt x="5982335" y="9144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96416" y="8317356"/>
            <a:ext cx="5982335" cy="9525"/>
          </a:xfrm>
          <a:custGeom>
            <a:avLst/>
            <a:gdLst/>
            <a:ahLst/>
            <a:cxnLst/>
            <a:rect l="l" t="t" r="r" b="b"/>
            <a:pathLst>
              <a:path w="5982334" h="9525">
                <a:moveTo>
                  <a:pt x="5982335" y="0"/>
                </a:moveTo>
                <a:lnTo>
                  <a:pt x="0" y="0"/>
                </a:lnTo>
                <a:lnTo>
                  <a:pt x="0" y="9144"/>
                </a:lnTo>
                <a:lnTo>
                  <a:pt x="5982335" y="9144"/>
                </a:lnTo>
                <a:lnTo>
                  <a:pt x="5982335" y="0"/>
                </a:lnTo>
                <a:close/>
              </a:path>
            </a:pathLst>
          </a:custGeom>
          <a:solidFill>
            <a:srgbClr val="1F4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2004" y="3420236"/>
            <a:ext cx="5912485" cy="56857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188595">
              <a:lnSpc>
                <a:spcPct val="102000"/>
              </a:lnSpc>
              <a:spcBef>
                <a:spcPts val="75"/>
              </a:spcBef>
            </a:pPr>
            <a:r>
              <a:rPr dirty="0" sz="1100">
                <a:latin typeface="Calibri"/>
                <a:cs typeface="Calibri"/>
              </a:rPr>
              <a:t>Repository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composition: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Verilog.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Commit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history: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26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commits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 main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branch.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releases </a:t>
            </a:r>
            <a:r>
              <a:rPr dirty="0" sz="1100">
                <a:latin typeface="Calibri"/>
                <a:cs typeface="Calibri"/>
              </a:rPr>
              <a:t>have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been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published,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currently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stars,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watchers,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 </a:t>
            </a:r>
            <a:r>
              <a:rPr dirty="0" sz="1100" spc="-10">
                <a:latin typeface="Calibri"/>
                <a:cs typeface="Calibri"/>
              </a:rPr>
              <a:t>forks.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100">
              <a:latin typeface="Calibri"/>
              <a:cs typeface="Calibri"/>
            </a:endParaRPr>
          </a:p>
          <a:p>
            <a:pPr marL="203200" indent="-190500">
              <a:lnSpc>
                <a:spcPct val="100000"/>
              </a:lnSpc>
              <a:buClr>
                <a:srgbClr val="1F4E5F"/>
              </a:buClr>
              <a:buFont typeface="Times New Roman"/>
              <a:buAutoNum type="arabicPeriod" startAt="9"/>
              <a:tabLst>
                <a:tab pos="203200" algn="l"/>
              </a:tabLst>
            </a:pP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Applications</a:t>
            </a:r>
            <a:endParaRPr sz="1500">
              <a:latin typeface="Times New Roman"/>
              <a:cs typeface="Times New Roman"/>
            </a:endParaRPr>
          </a:p>
          <a:p>
            <a:pPr lvl="1" marL="469900" indent="-228600">
              <a:lnSpc>
                <a:spcPct val="100000"/>
              </a:lnSpc>
              <a:spcBef>
                <a:spcPts val="1480"/>
              </a:spcBef>
              <a:buSzPct val="90909"/>
              <a:buFont typeface="Times New Roman"/>
              <a:buChar char="●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Digital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Electronics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coursework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laboratory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demonstrations.</a:t>
            </a:r>
            <a:endParaRPr sz="1100">
              <a:latin typeface="Calibri"/>
              <a:cs typeface="Calibri"/>
            </a:endParaRPr>
          </a:p>
          <a:p>
            <a:pPr lvl="1" marL="469900" marR="476884" indent="-229235">
              <a:lnSpc>
                <a:spcPct val="101800"/>
              </a:lnSpc>
              <a:spcBef>
                <a:spcPts val="385"/>
              </a:spcBef>
              <a:buSzPct val="90909"/>
              <a:buFont typeface="Times New Roman"/>
              <a:buChar char="●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Building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blocks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larger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sequential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systems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(e.g.,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priority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encoders, multiplexer/demultiplexer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control,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memory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address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decoding).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434"/>
              </a:spcBef>
              <a:buSzPct val="90909"/>
              <a:buFont typeface="Times New Roman"/>
              <a:buChar char="●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FPGA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development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prototyping.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430"/>
              </a:spcBef>
              <a:buSzPct val="90909"/>
              <a:buFont typeface="Times New Roman"/>
              <a:buChar char="●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VLSI</a:t>
            </a:r>
            <a:r>
              <a:rPr dirty="0" sz="1100" spc="-10">
                <a:latin typeface="Calibri"/>
                <a:cs typeface="Calibri"/>
              </a:rPr>
              <a:t> front-</a:t>
            </a:r>
            <a:r>
              <a:rPr dirty="0" sz="1100">
                <a:latin typeface="Calibri"/>
                <a:cs typeface="Calibri"/>
              </a:rPr>
              <a:t>end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functional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verification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practice.</a:t>
            </a:r>
            <a:endParaRPr sz="1100">
              <a:latin typeface="Calibri"/>
              <a:cs typeface="Calibri"/>
            </a:endParaRPr>
          </a:p>
          <a:p>
            <a:pPr lvl="1" marL="469900" indent="-228600">
              <a:lnSpc>
                <a:spcPct val="100000"/>
              </a:lnSpc>
              <a:spcBef>
                <a:spcPts val="409"/>
              </a:spcBef>
              <a:buSzPct val="90909"/>
              <a:buFont typeface="Times New Roman"/>
              <a:buChar char="●"/>
              <a:tabLst>
                <a:tab pos="469900" algn="l"/>
              </a:tabLst>
            </a:pPr>
            <a:r>
              <a:rPr dirty="0" sz="1100">
                <a:latin typeface="Calibri"/>
                <a:cs typeface="Calibri"/>
              </a:rPr>
              <a:t>Embedded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systems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computer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architecture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(e.g.,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instruction/address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decoding).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35"/>
              </a:spcBef>
              <a:buFont typeface="Times New Roman"/>
              <a:buChar char="●"/>
            </a:pPr>
            <a:endParaRPr sz="1100">
              <a:latin typeface="Calibri"/>
              <a:cs typeface="Calibri"/>
            </a:endParaRPr>
          </a:p>
          <a:p>
            <a:pPr marL="300990" indent="-288290">
              <a:lnSpc>
                <a:spcPct val="100000"/>
              </a:lnSpc>
              <a:buClr>
                <a:srgbClr val="1F4E5F"/>
              </a:buClr>
              <a:buFont typeface="Times New Roman"/>
              <a:buAutoNum type="arabicPeriod" startAt="9"/>
              <a:tabLst>
                <a:tab pos="300990" algn="l"/>
              </a:tabLst>
            </a:pP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Conclusion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01899"/>
              </a:lnSpc>
              <a:spcBef>
                <a:spcPts val="1430"/>
              </a:spcBef>
            </a:pP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project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successfully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demonstrates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verification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fundamental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combinational </a:t>
            </a:r>
            <a:r>
              <a:rPr dirty="0" sz="1100">
                <a:latin typeface="Calibri"/>
                <a:cs typeface="Calibri"/>
              </a:rPr>
              <a:t>logic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building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blocks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4-</a:t>
            </a:r>
            <a:r>
              <a:rPr dirty="0" sz="1100" spc="-10">
                <a:latin typeface="Calibri"/>
                <a:cs typeface="Calibri"/>
              </a:rPr>
              <a:t>to-</a:t>
            </a:r>
            <a:r>
              <a:rPr dirty="0" sz="1100">
                <a:latin typeface="Calibri"/>
                <a:cs typeface="Calibri"/>
              </a:rPr>
              <a:t>2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encoder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2-</a:t>
            </a:r>
            <a:r>
              <a:rPr dirty="0" sz="1100">
                <a:latin typeface="Calibri"/>
                <a:cs typeface="Calibri"/>
              </a:rPr>
              <a:t>to-4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decoder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—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Verilog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HDL.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Both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modules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were </a:t>
            </a:r>
            <a:r>
              <a:rPr dirty="0" sz="1100">
                <a:latin typeface="Calibri"/>
                <a:cs typeface="Calibri"/>
              </a:rPr>
              <a:t>implemented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concise,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synthesizable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always-</a:t>
            </a:r>
            <a:r>
              <a:rPr dirty="0" sz="1100" spc="-10">
                <a:latin typeface="Calibri"/>
                <a:cs typeface="Calibri"/>
              </a:rPr>
              <a:t>block/case-</a:t>
            </a:r>
            <a:r>
              <a:rPr dirty="0" sz="1100">
                <a:latin typeface="Calibri"/>
                <a:cs typeface="Calibri"/>
              </a:rPr>
              <a:t>statement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constructs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validated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against </a:t>
            </a:r>
            <a:r>
              <a:rPr dirty="0" sz="1100">
                <a:latin typeface="Calibri"/>
                <a:cs typeface="Calibri"/>
              </a:rPr>
              <a:t>their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complete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truth tables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single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shared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testbench.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simulation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results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matched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the</a:t>
            </a:r>
            <a:r>
              <a:rPr dirty="0" sz="1100" spc="5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expected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theoretical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outputs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 every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confirming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correct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functional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behavior.</a:t>
            </a:r>
            <a:endParaRPr sz="1100">
              <a:latin typeface="Calibri"/>
              <a:cs typeface="Calibri"/>
            </a:endParaRPr>
          </a:p>
          <a:p>
            <a:pPr marL="12700" marR="244475">
              <a:lnSpc>
                <a:spcPct val="101800"/>
              </a:lnSpc>
              <a:spcBef>
                <a:spcPts val="790"/>
              </a:spcBef>
            </a:pP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compact,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well-</a:t>
            </a:r>
            <a:r>
              <a:rPr dirty="0" sz="1100" spc="-10">
                <a:latin typeface="Calibri"/>
                <a:cs typeface="Calibri"/>
              </a:rPr>
              <a:t>documented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example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combinational circuit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testbench-based verification,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project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provides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solid,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reusable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reference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further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study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digital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design,</a:t>
            </a:r>
            <a:r>
              <a:rPr dirty="0" sz="1100" spc="-20">
                <a:latin typeface="Calibri"/>
                <a:cs typeface="Calibri"/>
              </a:rPr>
              <a:t> FPGA </a:t>
            </a:r>
            <a:r>
              <a:rPr dirty="0" sz="1100" spc="-10">
                <a:latin typeface="Calibri"/>
                <a:cs typeface="Calibri"/>
              </a:rPr>
              <a:t>implementation,</a:t>
            </a:r>
            <a:r>
              <a:rPr dirty="0" sz="1100">
                <a:latin typeface="Calibri"/>
                <a:cs typeface="Calibri"/>
              </a:rPr>
              <a:t> and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VLSI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development.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100">
              <a:latin typeface="Calibri"/>
              <a:cs typeface="Calibri"/>
            </a:endParaRPr>
          </a:p>
          <a:p>
            <a:pPr marL="300990" indent="-288290">
              <a:lnSpc>
                <a:spcPct val="100000"/>
              </a:lnSpc>
              <a:spcBef>
                <a:spcPts val="5"/>
              </a:spcBef>
              <a:buClr>
                <a:srgbClr val="1F4E5F"/>
              </a:buClr>
              <a:buFont typeface="Times New Roman"/>
              <a:buAutoNum type="arabicPeriod" startAt="11"/>
              <a:tabLst>
                <a:tab pos="300990" algn="l"/>
              </a:tabLst>
            </a:pPr>
            <a:r>
              <a:rPr dirty="0" sz="1500" spc="-10" b="1">
                <a:solidFill>
                  <a:srgbClr val="1F4E5F"/>
                </a:solidFill>
                <a:latin typeface="Times New Roman"/>
                <a:cs typeface="Times New Roman"/>
              </a:rPr>
              <a:t>Reference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000">
                <a:latin typeface="Times New Roman"/>
                <a:cs typeface="Times New Roman"/>
              </a:rPr>
              <a:t>M.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Morris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Mano</a:t>
            </a:r>
            <a:r>
              <a:rPr dirty="0" sz="1000" spc="-4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&amp;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Michael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D.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Ciletti,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Digital</a:t>
            </a:r>
            <a:r>
              <a:rPr dirty="0" sz="1000" spc="-3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Design</a:t>
            </a:r>
            <a:r>
              <a:rPr dirty="0" sz="1000">
                <a:latin typeface="Times New Roman"/>
                <a:cs typeface="Times New Roman"/>
              </a:rPr>
              <a:t>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6th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ed.,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Pearson,</a:t>
            </a:r>
            <a:r>
              <a:rPr dirty="0" sz="1000" spc="-10">
                <a:latin typeface="Times New Roman"/>
                <a:cs typeface="Times New Roman"/>
              </a:rPr>
              <a:t> 2018.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000">
                <a:latin typeface="Times New Roman"/>
                <a:cs typeface="Times New Roman"/>
              </a:rPr>
              <a:t>Samir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Palnitkar, </a:t>
            </a:r>
            <a:r>
              <a:rPr dirty="0" sz="1000" i="1">
                <a:latin typeface="Times New Roman"/>
                <a:cs typeface="Times New Roman"/>
              </a:rPr>
              <a:t>Verilog</a:t>
            </a:r>
            <a:r>
              <a:rPr dirty="0" sz="1000" spc="-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HDL:</a:t>
            </a:r>
            <a:r>
              <a:rPr dirty="0" sz="1000" spc="-3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Guide</a:t>
            </a:r>
            <a:r>
              <a:rPr dirty="0" sz="1000" spc="-2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to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Digital Design</a:t>
            </a:r>
            <a:r>
              <a:rPr dirty="0" sz="1000" spc="-2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and</a:t>
            </a:r>
            <a:r>
              <a:rPr dirty="0" sz="1000" spc="-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Synthesis</a:t>
            </a:r>
            <a:r>
              <a:rPr dirty="0" sz="1000">
                <a:latin typeface="Times New Roman"/>
                <a:cs typeface="Times New Roman"/>
              </a:rPr>
              <a:t>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2nd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ed.,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Prentice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Hall,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2003.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000">
                <a:latin typeface="Times New Roman"/>
                <a:cs typeface="Times New Roman"/>
              </a:rPr>
              <a:t>R.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J.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Tocci,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N.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S.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Widmer,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G.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L.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Moss,</a:t>
            </a:r>
            <a:r>
              <a:rPr dirty="0" sz="1000" spc="20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Digital</a:t>
            </a:r>
            <a:r>
              <a:rPr dirty="0" sz="1000" spc="-3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Systems:</a:t>
            </a:r>
            <a:r>
              <a:rPr dirty="0" sz="1000" spc="-15" i="1">
                <a:latin typeface="Times New Roman"/>
                <a:cs typeface="Times New Roman"/>
              </a:rPr>
              <a:t> </a:t>
            </a:r>
            <a:r>
              <a:rPr dirty="0" sz="1000" spc="-10" i="1">
                <a:latin typeface="Times New Roman"/>
                <a:cs typeface="Times New Roman"/>
              </a:rPr>
              <a:t>Principles</a:t>
            </a:r>
            <a:r>
              <a:rPr dirty="0" sz="1000" spc="-40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and</a:t>
            </a:r>
            <a:r>
              <a:rPr dirty="0" sz="1000" spc="-35" i="1">
                <a:latin typeface="Times New Roman"/>
                <a:cs typeface="Times New Roman"/>
              </a:rPr>
              <a:t> </a:t>
            </a:r>
            <a:r>
              <a:rPr dirty="0" sz="1000" i="1">
                <a:latin typeface="Times New Roman"/>
                <a:cs typeface="Times New Roman"/>
              </a:rPr>
              <a:t>Applications</a:t>
            </a:r>
            <a:r>
              <a:rPr dirty="0" sz="1000">
                <a:latin typeface="Times New Roman"/>
                <a:cs typeface="Times New Roman"/>
              </a:rPr>
              <a:t>,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12th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ed.,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Pearson,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2016.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Page</a:t>
            </a:r>
            <a:r>
              <a:rPr dirty="0" spc="-45"/>
              <a:t> </a:t>
            </a: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Un-named</dc:creator>
  <dcterms:created xsi:type="dcterms:W3CDTF">2026-07-11T13:33:33Z</dcterms:created>
  <dcterms:modified xsi:type="dcterms:W3CDTF">2026-07-11T13:33:33Z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2026-07-11T00:00:00Z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2026-07-11T00:00:00Z</vt:filetime>
  </property>
  <property fmtid="{D5CDD505-2E9C-101B-9397-08002B2CF9AE}" pid="6" name="Producer">
    <vt:lpwstr>www.ilovepdf.com</vt:lpwstr>
  </property>
</Properties>
</file>